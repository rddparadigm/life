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946cb39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4946cb39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83800" lIns="83800" spcFirstLastPara="1" rIns="83800" wrap="square" tIns="83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7" name="Google Shape;27;p6"/>
          <p:cNvSpPr txBox="1"/>
          <p:nvPr>
            <p:ph idx="3" type="body"/>
          </p:nvPr>
        </p:nvSpPr>
        <p:spPr>
          <a:xfrm>
            <a:off x="465876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8" name="Google Shape;28;p6"/>
          <p:cNvSpPr txBox="1"/>
          <p:nvPr>
            <p:ph idx="4" type="body"/>
          </p:nvPr>
        </p:nvSpPr>
        <p:spPr>
          <a:xfrm>
            <a:off x="45720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5720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465876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457200" y="124200"/>
            <a:ext cx="8199300" cy="45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5720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465876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45720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6" name="Google Shape;46;p11"/>
          <p:cNvSpPr txBox="1"/>
          <p:nvPr>
            <p:ph idx="3" type="body"/>
          </p:nvPr>
        </p:nvSpPr>
        <p:spPr>
          <a:xfrm>
            <a:off x="465876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1" name="Google Shape;51;p12"/>
          <p:cNvSpPr txBox="1"/>
          <p:nvPr>
            <p:ph idx="3" type="body"/>
          </p:nvPr>
        </p:nvSpPr>
        <p:spPr>
          <a:xfrm>
            <a:off x="457200" y="276183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20366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57200" y="276183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2571600"/>
          </a:xfrm>
          <a:custGeom>
            <a:rect b="b" l="l" r="r" t="t"/>
            <a:pathLst>
              <a:path extrusionOk="0" h="120000" w="120000">
                <a:moveTo>
                  <a:pt x="18" y="0"/>
                </a:moveTo>
                <a:cubicBezTo>
                  <a:pt x="9" y="0"/>
                  <a:pt x="0" y="25"/>
                  <a:pt x="0" y="50"/>
                </a:cubicBezTo>
                <a:lnTo>
                  <a:pt x="0" y="119924"/>
                </a:lnTo>
                <a:cubicBezTo>
                  <a:pt x="0" y="119949"/>
                  <a:pt x="9" y="119987"/>
                  <a:pt x="18" y="119987"/>
                </a:cubicBezTo>
                <a:lnTo>
                  <a:pt x="119971" y="119987"/>
                </a:lnTo>
                <a:cubicBezTo>
                  <a:pt x="119981" y="119987"/>
                  <a:pt x="119995" y="119949"/>
                  <a:pt x="119995" y="119924"/>
                </a:cubicBezTo>
                <a:lnTo>
                  <a:pt x="119995" y="50"/>
                </a:lnTo>
                <a:cubicBezTo>
                  <a:pt x="119995" y="25"/>
                  <a:pt x="119981" y="0"/>
                  <a:pt x="119971" y="0"/>
                </a:cubicBezTo>
                <a:lnTo>
                  <a:pt x="18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4684770"/>
            <a:ext cx="2100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126960" y="4684770"/>
            <a:ext cx="28689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556320" y="4684770"/>
            <a:ext cx="2100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/>
              <a:t>prog2 lab B1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 sz="3600"/>
              <a:t>sequenze di elementi: le Liste 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600"/>
              <a:t>Esercizio</a:t>
            </a:r>
            <a:r>
              <a:rPr lang="it" sz="2600"/>
              <a:t> 1</a:t>
            </a:r>
            <a:endParaRPr sz="26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57200" y="8067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date le solite definizioni: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typedef struct s1 elem,*elemptr;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struct s1 {int content; elemptr next;};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typedef struct s2  lista,*listaptr;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struct s2 {elemptr first;};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implementate le</a:t>
            </a:r>
            <a:r>
              <a:rPr lang="it" sz="1900"/>
              <a:t> funzioni: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listaptr crealista();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int insert(int val, listaptr l,int index); // inserisce a posizione index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int indexof(int val, listaptr l); // restituisce posizione oppure -1 se manca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>
                <a:solidFill>
                  <a:schemeClr val="dk1"/>
                </a:solidFill>
              </a:rPr>
              <a:t>listaptr indexesof(int val, listaptr l); // restituisce posizioni elemento 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Esercizio 2 </a:t>
            </a:r>
            <a:endParaRPr sz="300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a titolo di esempio, proviamo a trasformare il comportamento di una lista normale in una </a:t>
            </a:r>
            <a:r>
              <a:rPr b="1" lang="it" sz="2200"/>
              <a:t>coda</a:t>
            </a:r>
            <a:r>
              <a:rPr lang="it" sz="2200"/>
              <a:t> che tramite </a:t>
            </a:r>
            <a:r>
              <a:rPr b="1" lang="it" sz="2200"/>
              <a:t>un solo puntatore</a:t>
            </a:r>
            <a:r>
              <a:rPr lang="it" sz="2200"/>
              <a:t>  possa accedere sia al primo che all’ultimo elemento.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come fare ? immaginiamoci un </a:t>
            </a:r>
            <a:r>
              <a:rPr b="1" lang="it" sz="2200"/>
              <a:t>anello</a:t>
            </a:r>
            <a:r>
              <a:rPr lang="it" sz="2200"/>
              <a:t> di cui teniamo una posizione, inseriremo o toglieremo sempre in quello stesso punto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Si puo’ usare come una  lista </a:t>
            </a:r>
            <a:r>
              <a:rPr b="1" lang="it" sz="2200"/>
              <a:t>circolare</a:t>
            </a:r>
            <a:endParaRPr b="1"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/>
              <a:t>creiamo anche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 appendLast(...) 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 removeFirst(...)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>
                <a:solidFill>
                  <a:schemeClr val="dk1"/>
                </a:solidFill>
              </a:rPr>
              <a:t>Esercizio 2 </a:t>
            </a:r>
            <a:endParaRPr sz="3000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   </a:t>
            </a:r>
            <a:endParaRPr sz="2200"/>
          </a:p>
        </p:txBody>
      </p:sp>
      <p:sp>
        <p:nvSpPr>
          <p:cNvPr id="86" name="Google Shape;86;p18"/>
          <p:cNvSpPr/>
          <p:nvPr/>
        </p:nvSpPr>
        <p:spPr>
          <a:xfrm>
            <a:off x="5908050" y="1617875"/>
            <a:ext cx="1417500" cy="90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8"/>
          <p:cNvSpPr/>
          <p:nvPr/>
        </p:nvSpPr>
        <p:spPr>
          <a:xfrm>
            <a:off x="3863250" y="3074825"/>
            <a:ext cx="1417500" cy="90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5869725" y="3074825"/>
            <a:ext cx="1417500" cy="90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3694625" y="1617875"/>
            <a:ext cx="1417500" cy="90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18"/>
          <p:cNvCxnSpPr>
            <a:stCxn id="89" idx="3"/>
            <a:endCxn id="86" idx="1"/>
          </p:cNvCxnSpPr>
          <p:nvPr/>
        </p:nvCxnSpPr>
        <p:spPr>
          <a:xfrm>
            <a:off x="5112125" y="2068025"/>
            <a:ext cx="79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1" name="Google Shape;91;p18"/>
          <p:cNvCxnSpPr>
            <a:stCxn id="86" idx="2"/>
            <a:endCxn id="88" idx="0"/>
          </p:cNvCxnSpPr>
          <p:nvPr/>
        </p:nvCxnSpPr>
        <p:spPr>
          <a:xfrm flipH="1">
            <a:off x="6578400" y="2518175"/>
            <a:ext cx="38400" cy="55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" name="Google Shape;92;p18"/>
          <p:cNvCxnSpPr>
            <a:stCxn id="88" idx="1"/>
            <a:endCxn id="87" idx="3"/>
          </p:cNvCxnSpPr>
          <p:nvPr/>
        </p:nvCxnSpPr>
        <p:spPr>
          <a:xfrm rot="10800000">
            <a:off x="5280825" y="3524975"/>
            <a:ext cx="58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" name="Google Shape;93;p18"/>
          <p:cNvCxnSpPr>
            <a:stCxn id="87" idx="0"/>
            <a:endCxn id="89" idx="2"/>
          </p:cNvCxnSpPr>
          <p:nvPr/>
        </p:nvCxnSpPr>
        <p:spPr>
          <a:xfrm rot="10800000">
            <a:off x="4403400" y="2518025"/>
            <a:ext cx="168600" cy="55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" name="Google Shape;94;p18"/>
          <p:cNvCxnSpPr/>
          <p:nvPr/>
        </p:nvCxnSpPr>
        <p:spPr>
          <a:xfrm>
            <a:off x="1948950" y="3419650"/>
            <a:ext cx="1914300" cy="5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" name="Google Shape;95;p18"/>
          <p:cNvSpPr txBox="1"/>
          <p:nvPr/>
        </p:nvSpPr>
        <p:spPr>
          <a:xfrm>
            <a:off x="155500" y="3163550"/>
            <a:ext cx="600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singolo puntatore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457200" y="716400"/>
            <a:ext cx="5816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aggiungo dopo Last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rimuovo sempre il First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756650" y="4344350"/>
            <a:ext cx="4896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con questo trucco, posso realizzare una coda sfruttando una lista semplice…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>
                <a:solidFill>
                  <a:schemeClr val="dk1"/>
                </a:solidFill>
              </a:rPr>
              <a:t>Esercizio 2 </a:t>
            </a:r>
            <a:endParaRPr sz="3000"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anello vuoto:   last == NULL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con un elemento:   last-&gt;next == last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penultimo elemento: …-&gt;next == last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ultimo :  (ovviamente == last)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>
                <a:solidFill>
                  <a:schemeClr val="dk1"/>
                </a:solidFill>
              </a:rPr>
              <a:t>Esercizio 1.2</a:t>
            </a:r>
            <a:endParaRPr sz="3000"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riutilizziamo il codice dell’ esercizio 1, ma anziche’ contenere degli </a:t>
            </a:r>
            <a:r>
              <a:rPr b="1" lang="it" sz="2200"/>
              <a:t>int</a:t>
            </a:r>
            <a:r>
              <a:rPr lang="it" sz="2200"/>
              <a:t>, conterra’ dei </a:t>
            </a:r>
            <a:r>
              <a:rPr b="1" lang="it" sz="2200"/>
              <a:t>void*</a:t>
            </a:r>
            <a:r>
              <a:rPr lang="it" sz="2200"/>
              <a:t> (cioe’ qualunque cosa)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gli algoritmi restano invariati!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