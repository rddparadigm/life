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evoluzione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evoluzione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evoluzione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evoluzione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evoluzione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evoluzione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evoluzione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evoluzione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83800" lIns="83800" spcFirstLastPara="1" rIns="83800" wrap="square" tIns="838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457200" y="1203660"/>
            <a:ext cx="81993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457200" y="1203660"/>
            <a:ext cx="81993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457200" y="1203660"/>
            <a:ext cx="40011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26" name="Google Shape;26;p6"/>
          <p:cNvSpPr txBox="1"/>
          <p:nvPr>
            <p:ph idx="2" type="body"/>
          </p:nvPr>
        </p:nvSpPr>
        <p:spPr>
          <a:xfrm>
            <a:off x="4658760" y="1203660"/>
            <a:ext cx="40011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27" name="Google Shape;27;p6"/>
          <p:cNvSpPr txBox="1"/>
          <p:nvPr>
            <p:ph idx="3" type="body"/>
          </p:nvPr>
        </p:nvSpPr>
        <p:spPr>
          <a:xfrm>
            <a:off x="4658760" y="2761830"/>
            <a:ext cx="40011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28" name="Google Shape;28;p6"/>
          <p:cNvSpPr txBox="1"/>
          <p:nvPr>
            <p:ph idx="4" type="body"/>
          </p:nvPr>
        </p:nvSpPr>
        <p:spPr>
          <a:xfrm>
            <a:off x="457200" y="2761830"/>
            <a:ext cx="40011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457200" y="1203660"/>
            <a:ext cx="40011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32" name="Google Shape;32;p7"/>
          <p:cNvSpPr txBox="1"/>
          <p:nvPr>
            <p:ph idx="2" type="body"/>
          </p:nvPr>
        </p:nvSpPr>
        <p:spPr>
          <a:xfrm>
            <a:off x="4658760" y="1203660"/>
            <a:ext cx="40011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idx="1" type="subTitle"/>
          </p:nvPr>
        </p:nvSpPr>
        <p:spPr>
          <a:xfrm>
            <a:off x="457200" y="124200"/>
            <a:ext cx="8199300" cy="452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457200" y="1203660"/>
            <a:ext cx="40011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57200" y="2761830"/>
            <a:ext cx="40011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41" name="Google Shape;41;p10"/>
          <p:cNvSpPr txBox="1"/>
          <p:nvPr>
            <p:ph idx="3" type="body"/>
          </p:nvPr>
        </p:nvSpPr>
        <p:spPr>
          <a:xfrm>
            <a:off x="4658760" y="1203660"/>
            <a:ext cx="40011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457200" y="1203660"/>
            <a:ext cx="40011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45" name="Google Shape;45;p11"/>
          <p:cNvSpPr txBox="1"/>
          <p:nvPr>
            <p:ph idx="2" type="body"/>
          </p:nvPr>
        </p:nvSpPr>
        <p:spPr>
          <a:xfrm>
            <a:off x="4658760" y="1203660"/>
            <a:ext cx="40011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46" name="Google Shape;46;p11"/>
          <p:cNvSpPr txBox="1"/>
          <p:nvPr>
            <p:ph idx="3" type="body"/>
          </p:nvPr>
        </p:nvSpPr>
        <p:spPr>
          <a:xfrm>
            <a:off x="4658760" y="2761830"/>
            <a:ext cx="40011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49" name="Google Shape;49;p12"/>
          <p:cNvSpPr txBox="1"/>
          <p:nvPr>
            <p:ph idx="1" type="body"/>
          </p:nvPr>
        </p:nvSpPr>
        <p:spPr>
          <a:xfrm>
            <a:off x="457200" y="1203660"/>
            <a:ext cx="40011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50" name="Google Shape;50;p12"/>
          <p:cNvSpPr txBox="1"/>
          <p:nvPr>
            <p:ph idx="2" type="body"/>
          </p:nvPr>
        </p:nvSpPr>
        <p:spPr>
          <a:xfrm>
            <a:off x="4658760" y="1203660"/>
            <a:ext cx="40011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51" name="Google Shape;51;p12"/>
          <p:cNvSpPr txBox="1"/>
          <p:nvPr>
            <p:ph idx="3" type="body"/>
          </p:nvPr>
        </p:nvSpPr>
        <p:spPr>
          <a:xfrm>
            <a:off x="457200" y="2761830"/>
            <a:ext cx="81993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457200" y="1203660"/>
            <a:ext cx="81993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55" name="Google Shape;55;p13"/>
          <p:cNvSpPr txBox="1"/>
          <p:nvPr>
            <p:ph idx="2" type="body"/>
          </p:nvPr>
        </p:nvSpPr>
        <p:spPr>
          <a:xfrm>
            <a:off x="457200" y="2761830"/>
            <a:ext cx="81993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457200" y="1203660"/>
            <a:ext cx="81993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59" name="Google Shape;59;p14"/>
          <p:cNvSpPr txBox="1"/>
          <p:nvPr>
            <p:ph idx="2" type="body"/>
          </p:nvPr>
        </p:nvSpPr>
        <p:spPr>
          <a:xfrm>
            <a:off x="457200" y="1203660"/>
            <a:ext cx="81993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60" name="Google Shape;60;p14"/>
          <p:cNvSpPr/>
          <p:nvPr/>
        </p:nvSpPr>
        <p:spPr>
          <a:xfrm>
            <a:off x="457200" y="1203660"/>
            <a:ext cx="81993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4"/>
          <p:cNvSpPr/>
          <p:nvPr/>
        </p:nvSpPr>
        <p:spPr>
          <a:xfrm>
            <a:off x="457200" y="1203660"/>
            <a:ext cx="81993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0"/>
            <a:ext cx="9144000" cy="2571600"/>
          </a:xfrm>
          <a:custGeom>
            <a:rect b="b" l="l" r="r" t="t"/>
            <a:pathLst>
              <a:path extrusionOk="0" h="120000" w="120000">
                <a:moveTo>
                  <a:pt x="18" y="0"/>
                </a:moveTo>
                <a:cubicBezTo>
                  <a:pt x="9" y="0"/>
                  <a:pt x="0" y="25"/>
                  <a:pt x="0" y="50"/>
                </a:cubicBezTo>
                <a:lnTo>
                  <a:pt x="0" y="119924"/>
                </a:lnTo>
                <a:cubicBezTo>
                  <a:pt x="0" y="119949"/>
                  <a:pt x="9" y="119987"/>
                  <a:pt x="18" y="119987"/>
                </a:cubicBezTo>
                <a:lnTo>
                  <a:pt x="119971" y="119987"/>
                </a:lnTo>
                <a:cubicBezTo>
                  <a:pt x="119981" y="119987"/>
                  <a:pt x="119995" y="119949"/>
                  <a:pt x="119995" y="119924"/>
                </a:cubicBezTo>
                <a:lnTo>
                  <a:pt x="119995" y="50"/>
                </a:lnTo>
                <a:cubicBezTo>
                  <a:pt x="119995" y="25"/>
                  <a:pt x="119981" y="0"/>
                  <a:pt x="119971" y="0"/>
                </a:cubicBezTo>
                <a:lnTo>
                  <a:pt x="18" y="0"/>
                </a:lnTo>
              </a:path>
            </a:pathLst>
          </a:custGeom>
          <a:gradFill>
            <a:gsLst>
              <a:gs pos="0">
                <a:srgbClr val="CCCCCC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457200" y="1203660"/>
            <a:ext cx="81993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>
            <a:off x="457200" y="4684770"/>
            <a:ext cx="21003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1" type="ftr"/>
          </p:nvPr>
        </p:nvSpPr>
        <p:spPr>
          <a:xfrm>
            <a:off x="3126960" y="4684770"/>
            <a:ext cx="28689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2" type="sldNum"/>
          </p:nvPr>
        </p:nvSpPr>
        <p:spPr>
          <a:xfrm>
            <a:off x="6556320" y="4684770"/>
            <a:ext cx="21003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83800" lIns="83800" spcFirstLastPara="1" rIns="83800" wrap="square" tIns="838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it"/>
              <a:t>prog2 lab B1</a:t>
            </a:r>
            <a:endParaRPr/>
          </a:p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it" sz="3600"/>
              <a:t>sequenze di elementi: le Liste </a:t>
            </a:r>
            <a:endParaRPr sz="3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457200" y="124200"/>
            <a:ext cx="81993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3000"/>
              <a:t>Ricapitoliamo</a:t>
            </a:r>
            <a:endParaRPr sz="3000"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457200" y="764250"/>
            <a:ext cx="81993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it" sz="2200"/>
              <a:t>Nella forma piu’ semplice le liste sono realizzate tramite </a:t>
            </a:r>
            <a:r>
              <a:rPr b="1" lang="it" sz="2200"/>
              <a:t>catene</a:t>
            </a:r>
            <a:r>
              <a:rPr lang="it" sz="2200"/>
              <a:t> di elementi omogenei.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it" sz="2200"/>
              <a:t>ogni elemento ha un campo che e’ l’indirizzo dell’ elemento successivo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it" sz="2200"/>
              <a:t>Gli elementi della lista possono avere un </a:t>
            </a:r>
            <a:r>
              <a:rPr b="1" lang="it" sz="2200"/>
              <a:t>ordinamento</a:t>
            </a:r>
            <a:r>
              <a:rPr lang="it" sz="2200"/>
              <a:t> definito dal loro contenuto (tramite una </a:t>
            </a:r>
            <a:r>
              <a:rPr b="1" lang="it" sz="2200"/>
              <a:t>funzione</a:t>
            </a:r>
            <a:r>
              <a:rPr lang="it" sz="2200"/>
              <a:t>() di confronto)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it" sz="2200"/>
              <a:t>Gli elementi possono essere alterati (inserzione/rimozione) secondo diverse politiche, che permettono di realizzare diverse funzionalita’ (ordinamento, pile, code..)</a:t>
            </a:r>
            <a:endParaRPr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457200" y="124200"/>
            <a:ext cx="81993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3000"/>
              <a:t>Ricapitoliamo</a:t>
            </a:r>
            <a:endParaRPr sz="3000"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457200" y="764250"/>
            <a:ext cx="81993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it" sz="2200"/>
              <a:t>Nella loro implementazione di base le liste sono semplici e flessibili, adatte ad elaborazioni sequenziali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it" sz="2200"/>
              <a:t>questa implementazione non e’ efficiente per accedere in modo casuale ad un elemento (quello in mezzo alla lista richiede ovviamente N/2 iterazioni!)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it" sz="2200"/>
              <a:t>Si possono ovviamente usare altri tipi di strutture per realizzarne il comportamento (es alberi)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it" sz="2200"/>
              <a:t>Se ne valga la pena dipende ovviamente dai requisiti del problema</a:t>
            </a:r>
            <a:endParaRPr sz="2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457200" y="124200"/>
            <a:ext cx="81993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3000"/>
              <a:t>Ricorsione</a:t>
            </a:r>
            <a:endParaRPr sz="3000"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457200" y="764250"/>
            <a:ext cx="81993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it" sz="2200"/>
              <a:t>Avete visto come sia possibile usare la ricorsione per implementare le operazioni, ma ovviamente in casi pratici le liste sono troppo grandi (errore di Stack Overflow..)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it" sz="2200"/>
              <a:t>Altri tipi di strutture (quelle ad albero) invece si prestano alla ricorsione, perche’ gli algoritmi diventano molto piu’ semplici</a:t>
            </a:r>
            <a:endParaRPr sz="22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2200"/>
              <a:t>(si vedra’ piu’ avanti)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it" sz="2200"/>
              <a:t>in molti casi pratici di alberi non esistono problemi di S.O.</a:t>
            </a:r>
            <a:endParaRPr sz="2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457200" y="124200"/>
            <a:ext cx="81993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3000"/>
              <a:t>Variazioni</a:t>
            </a:r>
            <a:endParaRPr sz="3000"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457200" y="764250"/>
            <a:ext cx="81993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/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it" sz="1900"/>
              <a:t>Quando si implementa una lista occorre fare alcune considerazioni generali (peraltro valide per qualunque situazione)</a:t>
            </a:r>
            <a:endParaRPr sz="1900"/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it" sz="1900"/>
              <a:t>il chiamante deve solo invocare funzioni oppure vi sono dei side effect?</a:t>
            </a:r>
            <a:endParaRPr sz="1900"/>
          </a:p>
          <a:p>
            <a:pPr indent="-3492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it" sz="1900"/>
              <a:t>ad esempio se le funzioni restituiscono un valore occorre controllare se e’ diverso da quello in ingresso? (magari lo trascuriamo)</a:t>
            </a:r>
            <a:endParaRPr sz="1900"/>
          </a:p>
          <a:p>
            <a:pPr indent="-3492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it" sz="1900"/>
              <a:t>la funzione usa un parametro per “referenza”? (cioe con &amp; address_of)?</a:t>
            </a:r>
            <a:endParaRPr sz="1900"/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it" sz="1900"/>
              <a:t>in generale le chiamate per referenza sono piu’ faticose da leggere</a:t>
            </a:r>
            <a:endParaRPr sz="1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457200" y="124200"/>
            <a:ext cx="81993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3000"/>
              <a:t>Varianti implementative 1</a:t>
            </a:r>
            <a:endParaRPr sz="3000"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457200" y="764250"/>
            <a:ext cx="81993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/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it" sz="1900"/>
              <a:t>Supponiamo che la lista coincida col ptr al primo elemento (elem* list)</a:t>
            </a:r>
            <a:endParaRPr sz="1900"/>
          </a:p>
          <a:p>
            <a:pPr indent="-3492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it" sz="1900"/>
              <a:t>Lista passata per valore es. insert( list,elem)</a:t>
            </a:r>
            <a:endParaRPr sz="1900"/>
          </a:p>
          <a:p>
            <a:pPr indent="-34925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it" sz="1900"/>
              <a:t>semplice, ma se inserisco in testa list cambia, quindi devo sempre restituirlo (eventualmente restituire NULL se invariato) e il chiamante deve adattarsi</a:t>
            </a:r>
            <a:endParaRPr sz="1900"/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it" sz="1900"/>
              <a:t>elemptr pt; int val;</a:t>
            </a:r>
            <a:endParaRPr b="1" sz="1900"/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it" sz="1900"/>
              <a:t>pt = insert(pt, val);</a:t>
            </a:r>
            <a:endParaRPr b="1" sz="1900"/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it" sz="1900"/>
              <a:t>Lista passata per referenza. es insert(&amp;list,elem)</a:t>
            </a:r>
            <a:endParaRPr sz="1900"/>
          </a:p>
          <a:p>
            <a:pPr indent="-3492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it" sz="1900"/>
              <a:t>meno immediato capire se list e’ modificata, ma il chiamante non deve fare assegnazioni obbligatorie</a:t>
            </a:r>
            <a:endParaRPr sz="19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it" sz="1900">
                <a:solidFill>
                  <a:schemeClr val="dk1"/>
                </a:solidFill>
              </a:rPr>
              <a:t>elemptr pt; int val;</a:t>
            </a:r>
            <a:endParaRPr b="1" sz="19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it" sz="1900">
                <a:solidFill>
                  <a:schemeClr val="dk1"/>
                </a:solidFill>
              </a:rPr>
              <a:t>insert(&amp;pt,val);</a:t>
            </a:r>
            <a:endParaRPr b="1" sz="1900"/>
          </a:p>
          <a:p>
            <a:pPr indent="-34925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it" sz="1900"/>
              <a:t>il codice della operazione contiene degli * in piu’ rendendolo meno leggibile</a:t>
            </a:r>
            <a:endParaRPr sz="1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457200" y="124200"/>
            <a:ext cx="81993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3000"/>
              <a:t>Varianti implementative 2</a:t>
            </a:r>
            <a:endParaRPr sz="3000"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457200" y="764250"/>
            <a:ext cx="81993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1900"/>
              <a:t>A questo punto, espandiamo l’idea e creiamo una struct apposita:</a:t>
            </a:r>
            <a:endParaRPr sz="19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it" sz="1900"/>
              <a:t>typedef struct {elem *first;} lista,*listaptr;</a:t>
            </a:r>
            <a:endParaRPr b="1"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900"/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it" sz="1900"/>
              <a:t>la lista e’ cosi’  una struttura a se’ stante</a:t>
            </a:r>
            <a:endParaRPr sz="1900"/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it" sz="1900"/>
              <a:t>passiamo sempre il puntatore alla lista (listaptr), cosi’ se modifichiamo la lista i risultati saranno visibili nel chiamante</a:t>
            </a:r>
            <a:endParaRPr sz="1900"/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it" sz="1900">
                <a:solidFill>
                  <a:schemeClr val="dk1"/>
                </a:solidFill>
              </a:rPr>
              <a:t>questo e’ poi quello che si fa in genere con pile e code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457200" y="124200"/>
            <a:ext cx="81993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3000"/>
              <a:t>Varianti implementative 3</a:t>
            </a:r>
            <a:endParaRPr sz="3000"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457200" y="764250"/>
            <a:ext cx="81993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/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it" sz="1900"/>
              <a:t>il concetto si puo’ estendere ulteriormente, ad esempio se abbiamo una lista ordinata in base una funzione </a:t>
            </a:r>
            <a:endParaRPr sz="1900"/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it" sz="1900"/>
              <a:t>int compare(void * e1,void*e2);</a:t>
            </a:r>
            <a:endParaRPr b="1" sz="19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900"/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it" sz="1900"/>
              <a:t>possiamo associarla alla lista, cosi’ dopo l’inizializzazione non la dobbiamo piu’ passare ogni volta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1900"/>
              <a:t>typedef struct {elem *first; </a:t>
            </a:r>
            <a:r>
              <a:rPr b="1" lang="it" sz="1900"/>
              <a:t>int (*comparefunc)(void*,void*)</a:t>
            </a:r>
            <a:r>
              <a:rPr lang="it" sz="1900"/>
              <a:t>;} lista, *listaptr;</a:t>
            </a:r>
            <a:endParaRPr sz="19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900"/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it" sz="1900"/>
              <a:t>il secondo attributo e’ proprio la funzione di confronto, la lista e’ piu’ autonoma perche’ contiene tutte le proprieta’ per funzionare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9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457200" y="124200"/>
            <a:ext cx="81993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3000"/>
              <a:t>struct e oggetti in C</a:t>
            </a:r>
            <a:endParaRPr sz="3000"/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457200" y="764250"/>
            <a:ext cx="81993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1900"/>
              <a:t>quando noi creiamo una struttura dati come nell’esempio precedente, creiamo qualcosa di simile a cio’ che in altri linguaggi si chiama </a:t>
            </a:r>
            <a:r>
              <a:rPr b="1" lang="it" sz="1900"/>
              <a:t>Oggetto</a:t>
            </a:r>
            <a:r>
              <a:rPr lang="it" sz="1900"/>
              <a:t>,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1900"/>
              <a:t>cioe’ una struttura dati con associate le operazioni per funzionare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1900"/>
              <a:t>Anche se in C non esiste supporto per gli oggetti, puo’ essere utile in ogni caso organizzare il codice in coppie di files:</a:t>
            </a:r>
            <a:endParaRPr sz="1900"/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it" sz="1900"/>
              <a:t>i .c definiscono ognuno una struttura dati con tutte le operazioni che agiscono su di essa</a:t>
            </a:r>
            <a:endParaRPr sz="1900"/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it" sz="1900"/>
              <a:t>i .h mostrano le operazioni “pubbliche” che il .c realizza</a:t>
            </a:r>
            <a:endParaRPr sz="1900"/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it" sz="1900"/>
              <a:t>nel .c ci possono essere altre operazioni “private” che il .c non rende visibili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