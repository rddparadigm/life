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evoluzione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evoluzione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evoluzione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evoluzione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4bac53e55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34bac53e55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evoluzione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4bac53e55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4bac53e55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evoluzione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4bac53e55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34bac53e55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evoluzione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4bac53e55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4bac53e55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evoluzione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83800" lIns="83800" spcFirstLastPara="1" rIns="83800" wrap="square" tIns="838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457200" y="1203660"/>
            <a:ext cx="819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457200" y="1203660"/>
            <a:ext cx="819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457200" y="120366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26" name="Google Shape;26;p6"/>
          <p:cNvSpPr txBox="1"/>
          <p:nvPr>
            <p:ph idx="2" type="body"/>
          </p:nvPr>
        </p:nvSpPr>
        <p:spPr>
          <a:xfrm>
            <a:off x="4658760" y="120366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27" name="Google Shape;27;p6"/>
          <p:cNvSpPr txBox="1"/>
          <p:nvPr>
            <p:ph idx="3" type="body"/>
          </p:nvPr>
        </p:nvSpPr>
        <p:spPr>
          <a:xfrm>
            <a:off x="4658760" y="276183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28" name="Google Shape;28;p6"/>
          <p:cNvSpPr txBox="1"/>
          <p:nvPr>
            <p:ph idx="4" type="body"/>
          </p:nvPr>
        </p:nvSpPr>
        <p:spPr>
          <a:xfrm>
            <a:off x="457200" y="276183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457200" y="1203660"/>
            <a:ext cx="40011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32" name="Google Shape;32;p7"/>
          <p:cNvSpPr txBox="1"/>
          <p:nvPr>
            <p:ph idx="2" type="body"/>
          </p:nvPr>
        </p:nvSpPr>
        <p:spPr>
          <a:xfrm>
            <a:off x="4658760" y="1203660"/>
            <a:ext cx="40011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idx="1" type="subTitle"/>
          </p:nvPr>
        </p:nvSpPr>
        <p:spPr>
          <a:xfrm>
            <a:off x="457200" y="124200"/>
            <a:ext cx="8199300" cy="452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457200" y="120366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57200" y="276183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41" name="Google Shape;41;p10"/>
          <p:cNvSpPr txBox="1"/>
          <p:nvPr>
            <p:ph idx="3" type="body"/>
          </p:nvPr>
        </p:nvSpPr>
        <p:spPr>
          <a:xfrm>
            <a:off x="4658760" y="1203660"/>
            <a:ext cx="40011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457200" y="1203660"/>
            <a:ext cx="40011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45" name="Google Shape;45;p11"/>
          <p:cNvSpPr txBox="1"/>
          <p:nvPr>
            <p:ph idx="2" type="body"/>
          </p:nvPr>
        </p:nvSpPr>
        <p:spPr>
          <a:xfrm>
            <a:off x="4658760" y="120366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46" name="Google Shape;46;p11"/>
          <p:cNvSpPr txBox="1"/>
          <p:nvPr>
            <p:ph idx="3" type="body"/>
          </p:nvPr>
        </p:nvSpPr>
        <p:spPr>
          <a:xfrm>
            <a:off x="4658760" y="276183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49" name="Google Shape;49;p12"/>
          <p:cNvSpPr txBox="1"/>
          <p:nvPr>
            <p:ph idx="1" type="body"/>
          </p:nvPr>
        </p:nvSpPr>
        <p:spPr>
          <a:xfrm>
            <a:off x="457200" y="120366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50" name="Google Shape;50;p12"/>
          <p:cNvSpPr txBox="1"/>
          <p:nvPr>
            <p:ph idx="2" type="body"/>
          </p:nvPr>
        </p:nvSpPr>
        <p:spPr>
          <a:xfrm>
            <a:off x="4658760" y="120366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51" name="Google Shape;51;p12"/>
          <p:cNvSpPr txBox="1"/>
          <p:nvPr>
            <p:ph idx="3" type="body"/>
          </p:nvPr>
        </p:nvSpPr>
        <p:spPr>
          <a:xfrm>
            <a:off x="457200" y="2761830"/>
            <a:ext cx="819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457200" y="1203660"/>
            <a:ext cx="819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55" name="Google Shape;55;p13"/>
          <p:cNvSpPr txBox="1"/>
          <p:nvPr>
            <p:ph idx="2" type="body"/>
          </p:nvPr>
        </p:nvSpPr>
        <p:spPr>
          <a:xfrm>
            <a:off x="457200" y="2761830"/>
            <a:ext cx="819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457200" y="1203660"/>
            <a:ext cx="819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59" name="Google Shape;59;p14"/>
          <p:cNvSpPr txBox="1"/>
          <p:nvPr>
            <p:ph idx="2" type="body"/>
          </p:nvPr>
        </p:nvSpPr>
        <p:spPr>
          <a:xfrm>
            <a:off x="457200" y="1203660"/>
            <a:ext cx="819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60" name="Google Shape;60;p14"/>
          <p:cNvSpPr/>
          <p:nvPr/>
        </p:nvSpPr>
        <p:spPr>
          <a:xfrm>
            <a:off x="457200" y="1203660"/>
            <a:ext cx="819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457200" y="1203660"/>
            <a:ext cx="819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0"/>
            <a:ext cx="9144000" cy="2571600"/>
          </a:xfrm>
          <a:custGeom>
            <a:rect b="b" l="l" r="r" t="t"/>
            <a:pathLst>
              <a:path extrusionOk="0" h="120000" w="120000">
                <a:moveTo>
                  <a:pt x="18" y="0"/>
                </a:moveTo>
                <a:cubicBezTo>
                  <a:pt x="9" y="0"/>
                  <a:pt x="0" y="25"/>
                  <a:pt x="0" y="50"/>
                </a:cubicBezTo>
                <a:lnTo>
                  <a:pt x="0" y="119924"/>
                </a:lnTo>
                <a:cubicBezTo>
                  <a:pt x="0" y="119949"/>
                  <a:pt x="9" y="119987"/>
                  <a:pt x="18" y="119987"/>
                </a:cubicBezTo>
                <a:lnTo>
                  <a:pt x="119971" y="119987"/>
                </a:lnTo>
                <a:cubicBezTo>
                  <a:pt x="119981" y="119987"/>
                  <a:pt x="119995" y="119949"/>
                  <a:pt x="119995" y="119924"/>
                </a:cubicBezTo>
                <a:lnTo>
                  <a:pt x="119995" y="50"/>
                </a:lnTo>
                <a:cubicBezTo>
                  <a:pt x="119995" y="25"/>
                  <a:pt x="119981" y="0"/>
                  <a:pt x="119971" y="0"/>
                </a:cubicBezTo>
                <a:lnTo>
                  <a:pt x="18" y="0"/>
                </a:lnTo>
              </a:path>
            </a:pathLst>
          </a:custGeom>
          <a:gradFill>
            <a:gsLst>
              <a:gs pos="0">
                <a:srgbClr val="CCCCCC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457200" y="1203660"/>
            <a:ext cx="819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457200" y="4684770"/>
            <a:ext cx="21003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1" type="ftr"/>
          </p:nvPr>
        </p:nvSpPr>
        <p:spPr>
          <a:xfrm>
            <a:off x="3126960" y="4684770"/>
            <a:ext cx="28689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6556320" y="4684770"/>
            <a:ext cx="21003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83800" lIns="83800" spcFirstLastPara="1" rIns="83800" wrap="square" tIns="83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it"/>
              <a:t>prog2 lab B1</a:t>
            </a:r>
            <a:endParaRPr/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it" sz="3600"/>
              <a:t>Alberi binari</a:t>
            </a:r>
            <a:endParaRPr sz="3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457200" y="124200"/>
            <a:ext cx="81993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3000"/>
              <a:t>Ricapitoliamo</a:t>
            </a:r>
            <a:endParaRPr sz="3000"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457200" y="764250"/>
            <a:ext cx="81993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it" sz="2200"/>
              <a:t>A parte le definizioni formali, gli alberi binari sono in sostanza liste ramificate, composti da elementi concettualmente simili a quelli delle liste, solo che ogni elemento ha due successori che sono chiamati sinistro e destro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it" sz="2200"/>
              <a:t>Gli alberi in generale (con N discendenti) sono usatissimi per rappresentare molte strutture gerarchiche, es filesystem,interfacce grafiche etc..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it" sz="2200"/>
              <a:t>Gli alberi binari si usano come strutture a basso livello per memorizzare elementi ordinati e permettere operazioni di ricerca efficienti (ricerca in Log(N) passi anziche’ N/2 come invece nelle liste semplici)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it" sz="2200"/>
              <a:t>gli alberi devono essere abbastanza </a:t>
            </a:r>
            <a:r>
              <a:rPr b="1" lang="it" sz="2200"/>
              <a:t>bilanciati</a:t>
            </a:r>
            <a:endParaRPr b="1"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457200" y="124200"/>
            <a:ext cx="81993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3000"/>
              <a:t>Alberi</a:t>
            </a:r>
            <a:endParaRPr sz="3000"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457200" y="764250"/>
            <a:ext cx="81993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it" sz="2200"/>
              <a:t>Volendo, un albero n-ario si puo’ convertire in binario</a:t>
            </a:r>
            <a:endParaRPr sz="2200"/>
          </a:p>
        </p:txBody>
      </p:sp>
      <p:pic>
        <p:nvPicPr>
          <p:cNvPr id="80" name="Google Shape;8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2125" y="1255475"/>
            <a:ext cx="6855500" cy="411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457200" y="124200"/>
            <a:ext cx="81993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3000"/>
              <a:t>Ricorsione</a:t>
            </a:r>
            <a:endParaRPr sz="3000"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457200" y="764250"/>
            <a:ext cx="81993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it" sz="2200"/>
              <a:t>a seconda delle operazioni richieste, e diversamente dalle liste, per gli alberi gli algoritmi ricorsivi sono a volte</a:t>
            </a:r>
            <a:r>
              <a:rPr b="1" lang="it" sz="2200"/>
              <a:t> piu’ semplici </a:t>
            </a:r>
            <a:r>
              <a:rPr lang="it" sz="2200"/>
              <a:t>di quelli iterativi, perche’ il modello di esecuzione a stack dei linguaggi salva automaticamente lo stato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it" sz="2200"/>
              <a:t>tuttavia per realizzare certe funzionalita’ (es iteratori) in C e’ necessario usare algoritmi iterativi (in altri linguaggi es Python invece esistono appositi statement che realizzano queste funzionalita’ anche tramite ricorsione.</a:t>
            </a:r>
            <a:endParaRPr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457200" y="124200"/>
            <a:ext cx="81993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3000"/>
              <a:t>Varianti implementative</a:t>
            </a:r>
            <a:endParaRPr sz="3000"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457200" y="764250"/>
            <a:ext cx="81993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/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it" sz="1900"/>
              <a:t>come per le liste semplici, anche qui si puo’ passare la root per valore o referenza e si puo’ creare una typedef per definire un tree in se’: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1900"/>
              <a:t>typedef struct n node, *nodeptr;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1900">
                <a:solidFill>
                  <a:schemeClr val="dk1"/>
                </a:solidFill>
              </a:rPr>
              <a:t>struct n {void*content;  nodeptr left, nodeptr right; };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1900"/>
              <a:t>typedef struct t tree, *treeptr;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it" sz="1900">
                <a:solidFill>
                  <a:schemeClr val="dk1"/>
                </a:solidFill>
              </a:rPr>
              <a:t>struct t {</a:t>
            </a:r>
            <a:r>
              <a:rPr lang="it" sz="1900">
                <a:solidFill>
                  <a:schemeClr val="dk1"/>
                </a:solidFill>
              </a:rPr>
              <a:t>nodeptr root;} ;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1900"/>
              <a:t>Ovviamente oltre a questo node di base, si possono aggiungere altri campi per realizzare funzioni aggiuntive</a:t>
            </a:r>
            <a:endParaRPr sz="1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457200" y="124200"/>
            <a:ext cx="81993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3000"/>
              <a:t>Esercizio 1</a:t>
            </a:r>
            <a:endParaRPr sz="3000"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457200" y="612125"/>
            <a:ext cx="8199300" cy="42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900"/>
              <a:t>creiamo ora una lista di liste (</a:t>
            </a:r>
            <a:r>
              <a:rPr b="1" lang="it" sz="1900"/>
              <a:t>un albero</a:t>
            </a:r>
            <a:r>
              <a:rPr lang="it" sz="1900"/>
              <a:t> !)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it" sz="1900"/>
              <a:t>un elemento ora puo’ essere semplice oppure essere una </a:t>
            </a:r>
            <a:r>
              <a:rPr b="1" lang="it" sz="1900"/>
              <a:t>sottolista</a:t>
            </a:r>
            <a:endParaRPr b="1" sz="1900"/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it" sz="1900"/>
              <a:t>occorre aggiungere quindi una proprieta’ (Tag) che ci permetta di distinguere: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900"/>
              <a:t>//#define NORMALE 0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900">
                <a:solidFill>
                  <a:schemeClr val="dk1"/>
                </a:solidFill>
              </a:rPr>
              <a:t>//</a:t>
            </a:r>
            <a:r>
              <a:rPr lang="it" sz="1900">
                <a:solidFill>
                  <a:schemeClr val="dk1"/>
                </a:solidFill>
              </a:rPr>
              <a:t>#define LISTA 1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900"/>
              <a:t>enum TAG {NORMALE, LISTA};  // anziche’ usare le #define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it" sz="1900">
                <a:solidFill>
                  <a:schemeClr val="dk1"/>
                </a:solidFill>
              </a:rPr>
              <a:t>// esempio: 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it" sz="1900">
                <a:solidFill>
                  <a:schemeClr val="dk1"/>
                </a:solidFill>
              </a:rPr>
              <a:t>enum COLORI{ ROSSO,VERDE,BLU};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1900"/>
              <a:t>la enum{}  e’ semplicemente una lista di valori (0..N) con dei nomi, meglio della </a:t>
            </a:r>
            <a:r>
              <a:rPr b="1" lang="it" sz="1900"/>
              <a:t>#define</a:t>
            </a:r>
            <a:r>
              <a:rPr lang="it" sz="1900"/>
              <a:t> perche’ il compilatore puo’ fare piu’ controlli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457200" y="124200"/>
            <a:ext cx="81993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3000"/>
              <a:t>Esercizio 1</a:t>
            </a:r>
            <a:endParaRPr sz="3000"/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457200" y="612125"/>
            <a:ext cx="8199300" cy="42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900"/>
              <a:t>Quindi: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900"/>
              <a:t>enum TAG {NORMALE, LISTA};  // anziche’ usare le #define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900"/>
              <a:t>typedef struct tag_el </a:t>
            </a:r>
            <a:r>
              <a:rPr lang="it" sz="1900">
                <a:solidFill>
                  <a:schemeClr val="dk1"/>
                </a:solidFill>
              </a:rPr>
              <a:t>elem,*elemptr;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900">
                <a:solidFill>
                  <a:schemeClr val="dk1"/>
                </a:solidFill>
              </a:rPr>
              <a:t>struct tag_el {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900">
                <a:solidFill>
                  <a:schemeClr val="dk1"/>
                </a:solidFill>
              </a:rPr>
              <a:t>     enum TAG tag;  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900">
                <a:solidFill>
                  <a:schemeClr val="dk1"/>
                </a:solidFill>
              </a:rPr>
              <a:t>     void * content; 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900">
                <a:solidFill>
                  <a:schemeClr val="dk1"/>
                </a:solidFill>
              </a:rPr>
              <a:t>     elem *next;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900">
                <a:solidFill>
                  <a:schemeClr val="dk1"/>
                </a:solidFill>
              </a:rPr>
              <a:t>};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457200" y="124200"/>
            <a:ext cx="81993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3000"/>
              <a:t>Esercizio 1</a:t>
            </a:r>
            <a:endParaRPr sz="3000"/>
          </a:p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457200" y="764250"/>
            <a:ext cx="81993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1900"/>
              <a:t>Una lista quindi contiene tutti elementi di tipo elemptr.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1900"/>
              <a:t>per ogni elem: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1900"/>
              <a:t>se elem.tag == NORMALE elem.content sara’ un </a:t>
            </a:r>
            <a:r>
              <a:rPr b="1" lang="it" sz="1900"/>
              <a:t>elemptr</a:t>
            </a:r>
            <a:endParaRPr b="1"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900">
                <a:solidFill>
                  <a:schemeClr val="dk1"/>
                </a:solidFill>
              </a:rPr>
              <a:t>se elem.tag == LISTA il elem.content sara’ un </a:t>
            </a:r>
            <a:r>
              <a:rPr b="1" lang="it" sz="1900">
                <a:solidFill>
                  <a:schemeClr val="dk1"/>
                </a:solidFill>
              </a:rPr>
              <a:t>listaptr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900">
                <a:solidFill>
                  <a:schemeClr val="dk1"/>
                </a:solidFill>
              </a:rPr>
              <a:t>notate che inoltre essendo void*, potrei anche mettere dentro  elem.content un </a:t>
            </a:r>
            <a:r>
              <a:rPr b="1" lang="it" sz="1900">
                <a:solidFill>
                  <a:schemeClr val="dk1"/>
                </a:solidFill>
              </a:rPr>
              <a:t>int</a:t>
            </a:r>
            <a:r>
              <a:rPr lang="it" sz="1900">
                <a:solidFill>
                  <a:schemeClr val="dk1"/>
                </a:solidFill>
              </a:rPr>
              <a:t> o </a:t>
            </a:r>
            <a:r>
              <a:rPr b="1" lang="it" sz="1900">
                <a:solidFill>
                  <a:schemeClr val="dk1"/>
                </a:solidFill>
              </a:rPr>
              <a:t>long</a:t>
            </a:r>
            <a:r>
              <a:rPr lang="it" sz="1900">
                <a:solidFill>
                  <a:schemeClr val="dk1"/>
                </a:solidFill>
              </a:rPr>
              <a:t>, facendo ovviamente l’opportuno </a:t>
            </a:r>
            <a:r>
              <a:rPr b="1" lang="it" sz="1900">
                <a:solidFill>
                  <a:schemeClr val="dk1"/>
                </a:solidFill>
              </a:rPr>
              <a:t>cast</a:t>
            </a:r>
            <a:r>
              <a:rPr lang="it" sz="1900">
                <a:solidFill>
                  <a:schemeClr val="dk1"/>
                </a:solidFill>
              </a:rPr>
              <a:t>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1900"/>
              <a:t>date ora le seguenti definizioni (notare che </a:t>
            </a:r>
            <a:r>
              <a:rPr b="1" lang="it" sz="1900"/>
              <a:t>non</a:t>
            </a:r>
            <a:r>
              <a:rPr lang="it" sz="1900"/>
              <a:t> </a:t>
            </a:r>
            <a:r>
              <a:rPr b="1" lang="it" sz="1900"/>
              <a:t>c’e’</a:t>
            </a:r>
            <a:r>
              <a:rPr lang="it" sz="1900"/>
              <a:t> ordinamento):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1900">
                <a:solidFill>
                  <a:schemeClr val="dk1"/>
                </a:solidFill>
              </a:rPr>
              <a:t>typedef struct {int tag; void * content; elem *next;} elem,*elemptr;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900">
                <a:solidFill>
                  <a:schemeClr val="dk1"/>
                </a:solidFill>
              </a:rPr>
              <a:t>typedef struct {elem *first;} lista,*listaptr;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457200" y="124200"/>
            <a:ext cx="81993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3000"/>
              <a:t>Esercizio 1</a:t>
            </a:r>
            <a:endParaRPr sz="3000"/>
          </a:p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>
            <a:off x="457200" y="764250"/>
            <a:ext cx="81993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600">
                <a:solidFill>
                  <a:schemeClr val="dk1"/>
                </a:solidFill>
              </a:rPr>
              <a:t>implementare: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1600">
                <a:solidFill>
                  <a:schemeClr val="dk1"/>
                </a:solidFill>
              </a:rPr>
              <a:t>listaptr crealista()(void*,void*));   // molto simile ad Es. 1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1600">
                <a:solidFill>
                  <a:schemeClr val="dk1"/>
                </a:solidFill>
              </a:rPr>
              <a:t>void insert(listaptr l, void *content, int index);  // inserisce una elemptr al posto index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1600">
                <a:solidFill>
                  <a:schemeClr val="dk1"/>
                </a:solidFill>
              </a:rPr>
              <a:t>elemptr getelem(listaptr l,int index); // restituisce l’elemento alla posizione index, NULL se manca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1600">
                <a:solidFill>
                  <a:schemeClr val="dk1"/>
                </a:solidFill>
              </a:rPr>
              <a:t>char * stampaLista(listaptr l); //  stampa anche le sottoliste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it" sz="1600">
                <a:solidFill>
                  <a:schemeClr val="dk1"/>
                </a:solidFill>
              </a:rPr>
              <a:t>con queste funzioni di base: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</a:rPr>
              <a:t>creare una lista di persone, dove gli elementi al primo livello sono i cognomi, mentre al secondo la sottolista contiene tutte le persone con lo stesso cognome, sono permessi sinonimi.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